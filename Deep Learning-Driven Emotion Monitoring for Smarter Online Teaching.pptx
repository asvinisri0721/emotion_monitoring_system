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F4D8E-CAF2-5AEC-234E-AA22F8869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24194-2BD2-9E3A-46CF-D6B57C4A2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E5EF1-B4F2-5CEB-F7E2-01720F329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EC7-77D8-4BCC-8B5A-A95FB50EEEE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31107-D4CF-E332-ECA3-090105D33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13750-E735-55E9-44CB-67511BF43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BD7-F012-4F8A-9795-82F725D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87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6ABF-C5D2-F0F2-AF6F-0E81DDFA3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ACF44-552E-ED69-27B6-69DEC4DB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A7FCE-95F5-8689-F9D4-8AA97995B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EC7-77D8-4BCC-8B5A-A95FB50EEEE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898EA-68B8-120B-5BC6-7E8BB4FB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5D8A9-64E0-C42D-1F17-1385175C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BD7-F012-4F8A-9795-82F725D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8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7262A-DB48-8553-9151-77A08966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4B2DB-3C63-3E0C-6DDB-517FD0BB9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38E2A-AA3D-ED7B-1497-E5F5D6D75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EC7-77D8-4BCC-8B5A-A95FB50EEEE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ED6FD-EB46-F37C-271A-9D38B943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9BFBD-61F6-209C-6E58-4449F0FB0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BD7-F012-4F8A-9795-82F725D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3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00A8-E4BF-EAEF-B8E1-F924BBC28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F3099-EE12-BE1A-C97D-B644B2F81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59CB1-F58A-FAB6-7F16-0AEE301E3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9E0C-07CA-4614-9936-95DBF9382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EC7-77D8-4BCC-8B5A-A95FB50EEEE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6F699-84FC-8C9D-E9BF-CFAE1013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85540-1694-E84A-94DD-9EE66CBB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BD7-F012-4F8A-9795-82F725D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2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4347F-7EDE-638A-7A89-59191073F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240C8-CF64-D984-C301-62ED784C6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D97A2-03B8-2496-691B-80CA227FB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50CE32-8558-76BE-231C-D608CB3D55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AF8CF-19D4-FC34-E416-B4ADCDD60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3F6FA-C12C-8EE7-AEBE-0ECF88C17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EC7-77D8-4BCC-8B5A-A95FB50EEEE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AE33EF-BBC4-C046-0E49-633ECB481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305D2-0AEE-A0AE-431B-836B6EC0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BD7-F012-4F8A-9795-82F725D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05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27FB7-6670-C23F-3779-6DEE19F4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3B59AB-6001-BCCC-9DE2-D751C7D7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EC7-77D8-4BCC-8B5A-A95FB50EEEE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70D43D-97BC-C83D-6965-1F9D66AF4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72206-292F-8A9C-D055-1B23C7C8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BD7-F012-4F8A-9795-82F725D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72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3EB463-34FE-6A27-7AE7-21B3B93E7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EC7-77D8-4BCC-8B5A-A95FB50EEEE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5153AF-AF25-324E-375E-51005DBA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17A14-0BE3-FAA3-0F38-B6B8797EF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BD7-F012-4F8A-9795-82F725D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70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D6AAC-A834-D6D0-BC00-6231A3B9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90D11-5403-A627-EC12-2E6B8926A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0947C-5175-28DE-D633-94FD3E22E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B9180-5D32-7D56-B1B6-8570E8CF3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EC7-77D8-4BCC-8B5A-A95FB50EEEE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86177-C2BF-A51B-1376-16E756789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CCBB5-F11C-789C-1CEA-5C515DFB1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BD7-F012-4F8A-9795-82F725D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14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C8607-744E-DB2D-4445-915CA858C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55CC2D-2A48-1D83-468E-E4039C2A56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3FB5D-7D90-7172-2F29-3DEC36509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E9D70-B366-6022-5CD4-6EA892DB8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EC7-77D8-4BCC-8B5A-A95FB50EEEE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CC026-E8BC-6FC6-71AE-AC007A8AB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BA521-A3F3-632A-FD4D-1DEB0A8C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BD7-F012-4F8A-9795-82F725D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5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C81F8-DCA7-0D76-DE0E-A7D2D7AC5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D086D-EA88-AAE1-A975-9185780DB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491F6-CA38-2402-A201-8C12C7D6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EC7-77D8-4BCC-8B5A-A95FB50EEEE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4D727-4F85-CD3A-1B22-9BF3CF30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672D4-6BF9-A851-D570-37D2A97DB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BD7-F012-4F8A-9795-82F725D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53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1ECA80-9126-B29F-9468-F22B27E7E0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B2A0E-BA0D-54B5-5476-8FBF68750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76E4E-5CE9-AC67-4D55-FAD5ED94C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DEC7-77D8-4BCC-8B5A-A95FB50EEEE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B43DA-841D-9C03-B9FA-B741290B9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F36D8-F45B-F956-AB94-BB8090746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F1BD7-F012-4F8A-9795-82F725D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52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B05454-B737-CC8E-2E5B-11B00E6E5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747D6-0C8E-B444-0630-0DFD645E9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332B-0507-1AE0-DF63-BB0A2B7A09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DDEC7-77D8-4BCC-8B5A-A95FB50EEEE3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C5AF3-61EF-438E-C66A-2EDF2E28A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DBD75-CC9F-57F3-963B-EC93035AB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F1BD7-F012-4F8A-9795-82F725D8C0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47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50EDF-0F03-3E3F-4B16-7F2F18537B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Deep Learning-Driven Emotion Monitoring for Smarter Online Teaching and Learning</a:t>
            </a:r>
          </a:p>
        </p:txBody>
      </p:sp>
    </p:spTree>
    <p:extLst>
      <p:ext uri="{BB962C8B-B14F-4D97-AF65-F5344CB8AC3E}">
        <p14:creationId xmlns:p14="http://schemas.microsoft.com/office/powerpoint/2010/main" val="6254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06165-D2CD-86F9-279B-8D4B794DA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Introduction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B8D8C-E5DF-0184-EA01-762028F2C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Online learning faces reduced emotional connection between teachers and students.</a:t>
            </a:r>
          </a:p>
          <a:p>
            <a:r>
              <a:rPr lang="en-US" dirty="0"/>
              <a:t>Engagement directly affects learning outcomes.</a:t>
            </a:r>
          </a:p>
          <a:p>
            <a:r>
              <a:rPr lang="en-US" dirty="0"/>
              <a:t>Facial expressions are reliable indicators of emotional states.</a:t>
            </a:r>
          </a:p>
          <a:p>
            <a:r>
              <a:rPr lang="en-US" dirty="0"/>
              <a:t>Goal: develop a real-time system to detect and respond to learner emotions.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883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C1311-838A-8643-BB16-9AC8D1D8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9129D8B-9F57-2719-881D-57896E303A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131" y="1562121"/>
            <a:ext cx="1134477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often lose focus during virtual lectures.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Teachers lack visibility into learners’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tools are static (attendance, quiz performance), not adaptive.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Need: real-time emotion-aware feedback to improve engagement.</a:t>
            </a:r>
          </a:p>
        </p:txBody>
      </p:sp>
    </p:spTree>
    <p:extLst>
      <p:ext uri="{BB962C8B-B14F-4D97-AF65-F5344CB8AC3E}">
        <p14:creationId xmlns:p14="http://schemas.microsoft.com/office/powerpoint/2010/main" val="371766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5A64-B38F-D7F9-BF3D-060D6FE14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Aim and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8DF5D-58EE-0BEA-F101-895B6FC18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Aim:</a:t>
            </a:r>
            <a:r>
              <a:rPr lang="en-US" dirty="0"/>
              <a:t> Implement a deep-learning-based system to monitor and enhance student engagement.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Objectives:</a:t>
            </a:r>
            <a:endParaRPr lang="en-US" dirty="0"/>
          </a:p>
          <a:p>
            <a:r>
              <a:rPr lang="en-US" dirty="0"/>
              <a:t>Detect faces in live and recorded lectures using YOLOv8/v9.</a:t>
            </a:r>
          </a:p>
          <a:p>
            <a:pPr marL="0" indent="0">
              <a:buNone/>
            </a:pPr>
            <a:r>
              <a:rPr lang="en-US" dirty="0"/>
              <a:t>***(evaluate available model that can )</a:t>
            </a:r>
          </a:p>
          <a:p>
            <a:r>
              <a:rPr lang="en-US" dirty="0"/>
              <a:t>Classify six key emotions (boredom, confusion, focus, frustration, sleepiness, happiness) with ResNet-50.</a:t>
            </a:r>
          </a:p>
          <a:p>
            <a:r>
              <a:rPr lang="en-US" dirty="0"/>
              <a:t>Track engagement levels and detect boredom.</a:t>
            </a:r>
          </a:p>
          <a:p>
            <a:r>
              <a:rPr lang="en-US" dirty="0"/>
              <a:t>Provide adaptive short video recommendations.</a:t>
            </a:r>
          </a:p>
          <a:p>
            <a:r>
              <a:rPr lang="en-US" dirty="0"/>
              <a:t>Evaluate performance and user satisfaction.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721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EE905-5F73-946C-A522-042C9706D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Questions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FBDC9-22DA-4AC6-1F58-BC7F1735F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effectively can deep learning detect emotions in real time?</a:t>
            </a:r>
          </a:p>
          <a:p>
            <a:endParaRPr lang="en-US" dirty="0"/>
          </a:p>
          <a:p>
            <a:r>
              <a:rPr lang="en-US" dirty="0"/>
              <a:t>Can personalized video recommendations re-engage bored learners?</a:t>
            </a:r>
          </a:p>
          <a:p>
            <a:endParaRPr lang="en-US" dirty="0"/>
          </a:p>
          <a:p>
            <a:r>
              <a:rPr lang="en-US" dirty="0"/>
              <a:t>Does the hybrid system outperform non-interactive models?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552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33F52-0798-D2D5-2E67-C1232177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Gap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ACA3D-9ACA-8B3B-7C6D-123D3A025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1716"/>
            <a:ext cx="10515600" cy="542115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600" b="1" dirty="0"/>
              <a:t>Existing Studies:</a:t>
            </a:r>
            <a:endParaRPr lang="en-US" sz="3600" dirty="0"/>
          </a:p>
          <a:p>
            <a:r>
              <a:rPr lang="en-US" sz="3600" dirty="0"/>
              <a:t>Focus mainly on emotion detection during </a:t>
            </a:r>
            <a:r>
              <a:rPr lang="en-US" sz="3600" i="1" dirty="0"/>
              <a:t>live</a:t>
            </a:r>
            <a:r>
              <a:rPr lang="en-US" sz="3600" dirty="0"/>
              <a:t> sessions only.</a:t>
            </a:r>
          </a:p>
          <a:p>
            <a:r>
              <a:rPr lang="en-US" sz="3600" dirty="0"/>
              <a:t>Limited integration of adaptive interventions.</a:t>
            </a:r>
          </a:p>
          <a:p>
            <a:r>
              <a:rPr lang="en-US" sz="3600" dirty="0"/>
              <a:t>Do not support </a:t>
            </a:r>
            <a:r>
              <a:rPr lang="en-US" sz="3600" i="1" dirty="0"/>
              <a:t>recorded</a:t>
            </a:r>
            <a:r>
              <a:rPr lang="en-US" sz="3600" dirty="0"/>
              <a:t> sessions for emotion tracking.</a:t>
            </a:r>
          </a:p>
          <a:p>
            <a:r>
              <a:rPr lang="en-US" sz="3600" dirty="0"/>
              <a:t>Most prior works detect only </a:t>
            </a:r>
            <a:r>
              <a:rPr lang="en-US" sz="3600" b="1" dirty="0"/>
              <a:t>negative emotions</a:t>
            </a:r>
            <a:r>
              <a:rPr lang="en-US" sz="3600" dirty="0"/>
              <a:t> like boredom, confusion, or frustration.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US" sz="3600" b="1" dirty="0"/>
              <a:t>Proposed Enhancement:</a:t>
            </a:r>
            <a:endParaRPr lang="en-US" sz="3600" dirty="0"/>
          </a:p>
          <a:p>
            <a:r>
              <a:rPr lang="en-US" sz="3600" dirty="0"/>
              <a:t>This research introduces a </a:t>
            </a:r>
            <a:r>
              <a:rPr lang="en-US" sz="3600" b="1" dirty="0"/>
              <a:t>hybrid approach</a:t>
            </a:r>
            <a:r>
              <a:rPr lang="en-US" sz="3600" dirty="0"/>
              <a:t> (live + recorded) for emotion detection.</a:t>
            </a:r>
          </a:p>
          <a:p>
            <a:r>
              <a:rPr lang="en-US" sz="3600" dirty="0"/>
              <a:t>Includes both </a:t>
            </a:r>
            <a:r>
              <a:rPr lang="en-US" sz="3600" b="1" dirty="0"/>
              <a:t>positive and negative emotions</a:t>
            </a:r>
            <a:r>
              <a:rPr lang="en-US" sz="3600" dirty="0"/>
              <a:t>, enabling teachers to identify satisfied or happy students.</a:t>
            </a:r>
          </a:p>
          <a:p>
            <a:r>
              <a:rPr lang="en-US" sz="3600" dirty="0"/>
              <a:t>The inclusion of </a:t>
            </a:r>
            <a:r>
              <a:rPr lang="en-US" sz="3600" b="1" dirty="0"/>
              <a:t>happy or positive engagement</a:t>
            </a:r>
            <a:r>
              <a:rPr lang="en-US" sz="3600" dirty="0"/>
              <a:t> helps motivate lecturers and improves teaching quality through feedback on emotional satisfaction.</a:t>
            </a:r>
          </a:p>
          <a:p>
            <a:r>
              <a:rPr lang="en-US" sz="3700" dirty="0"/>
              <a:t>integrate re-engagement recommendations system (only recorded sessions) when boredom is detected.</a:t>
            </a:r>
          </a:p>
        </p:txBody>
      </p:sp>
    </p:spTree>
    <p:extLst>
      <p:ext uri="{BB962C8B-B14F-4D97-AF65-F5344CB8AC3E}">
        <p14:creationId xmlns:p14="http://schemas.microsoft.com/office/powerpoint/2010/main" val="3454837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93636-4D0E-B9F3-F51A-A4532E033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1F06B-A84A-A108-16A2-32F903B43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14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 Models:</a:t>
            </a:r>
            <a:r>
              <a:rPr lang="en-US" dirty="0"/>
              <a:t> YOLOv8/v9 for face detection, ResNet-50 for emotion classification.</a:t>
            </a:r>
          </a:p>
          <a:p>
            <a:endParaRPr lang="en-US" dirty="0"/>
          </a:p>
          <a:p>
            <a:r>
              <a:rPr lang="en-US" b="1" dirty="0"/>
              <a:t>Emotions:</a:t>
            </a:r>
            <a:r>
              <a:rPr lang="en-US" dirty="0"/>
              <a:t> boredom, confusion, focus, frustration, sleepiness, happiness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Frameworks:</a:t>
            </a:r>
            <a:r>
              <a:rPr lang="en-US" dirty="0"/>
              <a:t> Python / TensorFlow, OpenCV.</a:t>
            </a:r>
          </a:p>
          <a:p>
            <a:endParaRPr lang="en-US" dirty="0"/>
          </a:p>
          <a:p>
            <a:r>
              <a:rPr lang="en-US" b="1" dirty="0"/>
              <a:t>Environment:</a:t>
            </a:r>
            <a:r>
              <a:rPr lang="en-US" dirty="0"/>
              <a:t> GPU-enabled (Google </a:t>
            </a:r>
            <a:r>
              <a:rPr lang="en-US" dirty="0" err="1"/>
              <a:t>Colab</a:t>
            </a:r>
            <a:r>
              <a:rPr lang="en-US" dirty="0"/>
              <a:t>).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***(diagram)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944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AB97-4834-ECC8-1A36-5509F454B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Solution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481F5-0521-010D-0944-0D1AF35C9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148"/>
            <a:ext cx="10515600" cy="4351338"/>
          </a:xfrm>
        </p:spPr>
        <p:txBody>
          <a:bodyPr/>
          <a:lstStyle/>
          <a:p>
            <a:r>
              <a:rPr lang="en-US" dirty="0"/>
              <a:t>Real-time detection during live sessions with an analytics dashboard.</a:t>
            </a:r>
          </a:p>
          <a:p>
            <a:endParaRPr lang="en-US" dirty="0"/>
          </a:p>
          <a:p>
            <a:r>
              <a:rPr lang="en-US" dirty="0"/>
              <a:t>Recorded lectures trigger personalized short clips during boredom.</a:t>
            </a:r>
          </a:p>
          <a:p>
            <a:endParaRPr lang="en-US" dirty="0"/>
          </a:p>
          <a:p>
            <a:r>
              <a:rPr lang="en-US" dirty="0"/>
              <a:t>Enhances engagement and learning continuity.</a:t>
            </a:r>
          </a:p>
          <a:p>
            <a:endParaRPr lang="en-US" dirty="0"/>
          </a:p>
          <a:p>
            <a:r>
              <a:rPr lang="en-US" dirty="0"/>
              <a:t>Adaptive, learner-centered experience.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01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77E97-4357-D543-AC4B-9B6A9D0FB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7374" y="2766218"/>
            <a:ext cx="3478161" cy="1325563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210719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403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Deep Learning-Driven Emotion Monitoring for Smarter Online Teaching and Learning</vt:lpstr>
      <vt:lpstr>1. Introduction </vt:lpstr>
      <vt:lpstr>Problem Statement</vt:lpstr>
      <vt:lpstr>Research Aim and Objectives</vt:lpstr>
      <vt:lpstr>Research Questions </vt:lpstr>
      <vt:lpstr>Research Gap </vt:lpstr>
      <vt:lpstr>Methodology </vt:lpstr>
      <vt:lpstr>Proposed Solution </vt:lpstr>
      <vt:lpstr>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Asvini 20232988</dc:creator>
  <cp:lastModifiedBy>Asvini 20232988</cp:lastModifiedBy>
  <cp:revision>4</cp:revision>
  <dcterms:created xsi:type="dcterms:W3CDTF">2025-10-23T13:55:32Z</dcterms:created>
  <dcterms:modified xsi:type="dcterms:W3CDTF">2025-10-24T13:53:15Z</dcterms:modified>
</cp:coreProperties>
</file>